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640080"/>
            <a:ext cx="1188720" cy="11887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74320" y="1965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SmartForest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274320" y="25146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 Risk Prediction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02920" y="3017520"/>
            <a:ext cx="2834640" cy="347472"/>
          </a:xfrm>
          <a:prstGeom prst="roundRect">
            <a:avLst>
              <a:gd name="adj" fmla="val 26316"/>
            </a:avLst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063240"/>
            <a:ext cx="237744" cy="2377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68680" y="304495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15: Life on Land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206240" y="822960"/>
            <a:ext cx="4572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Environmental Data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Predict Forest Fire Risk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420624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Algerian Forest Fires Dataset  •  3 ML Models  •  95.92% Accuracy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206240" y="2514600"/>
            <a:ext cx="219456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206240" y="25511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206240" y="2770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Environmental Analytics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537960" y="2514600"/>
            <a:ext cx="219456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537960" y="2551176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800" dirty="0"/>
          </a:p>
        </p:txBody>
      </p:sp>
      <p:sp>
        <p:nvSpPr>
          <p:cNvPr id="16" name="Text 12"/>
          <p:cNvSpPr/>
          <p:nvPr/>
        </p:nvSpPr>
        <p:spPr>
          <a:xfrm>
            <a:off x="6537960" y="27706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– Algerian Fires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206240" y="3264408"/>
            <a:ext cx="219456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4206240" y="33009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4206240" y="3520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Anamika K T &amp; Sibani B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537960" y="3264408"/>
            <a:ext cx="2194560" cy="5943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537960" y="3300984"/>
            <a:ext cx="2194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6537960" y="3520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AIML-B  •  SRM IST  •  2026</a:t>
            </a:r>
            <a:endParaRPr lang="en-US" sz="11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6240" y="4663440"/>
            <a:ext cx="201168" cy="201168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4462272" y="464515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github.com/Rover-sp24/MiniProject_DS_AIML-B_2026_SmartForest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2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972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15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5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66420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16276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Forest fires cause irreversible ecological damage to biodiversity and carbon sinks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32257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2960" y="2286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is reactive — damage happens before response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98094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22960" y="29443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change is increasing fire frequency and severity globally</a:t>
            </a:r>
            <a:endParaRPr lang="en-US" sz="11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63931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822960" y="36027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proactive data-driven prediction tools for early intervention</a:t>
            </a:r>
            <a:endParaRPr lang="en-US" sz="1150" dirty="0"/>
          </a:p>
        </p:txBody>
      </p:sp>
      <p:sp>
        <p:nvSpPr>
          <p:cNvPr id="15" name="Shape 8"/>
          <p:cNvSpPr/>
          <p:nvPr/>
        </p:nvSpPr>
        <p:spPr>
          <a:xfrm>
            <a:off x="4754880" y="960120"/>
            <a:ext cx="4023360" cy="356616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1097280"/>
            <a:ext cx="411480" cy="411480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5532120" y="1115568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5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1664208"/>
            <a:ext cx="201168" cy="201168"/>
          </a:xfrm>
          <a:prstGeom prst="rect">
            <a:avLst/>
          </a:prstGeom>
        </p:spPr>
      </p:pic>
      <p:sp>
        <p:nvSpPr>
          <p:cNvPr id="19" name="Text 10"/>
          <p:cNvSpPr/>
          <p:nvPr/>
        </p:nvSpPr>
        <p:spPr>
          <a:xfrm>
            <a:off x="5212080" y="1627632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environmental parameters to proactively predict fire risk zones</a:t>
            </a:r>
            <a:endParaRPr lang="en-US" sz="11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37760" y="2322576"/>
            <a:ext cx="201168" cy="20116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5212080" y="228600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ML classification models on historical sensor data</a:t>
            </a:r>
            <a:endParaRPr lang="en-US" sz="1150" dirty="0"/>
          </a:p>
        </p:txBody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37760" y="2980944"/>
            <a:ext cx="201168" cy="201168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5212080" y="2944368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key environmental triggers before fire occurrence</a:t>
            </a:r>
            <a:endParaRPr lang="en-US" sz="1150" dirty="0"/>
          </a:p>
        </p:txBody>
      </p:sp>
      <p:pic>
        <p:nvPicPr>
          <p:cNvPr id="24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37760" y="3639312"/>
            <a:ext cx="201168" cy="201168"/>
          </a:xfrm>
          <a:prstGeom prst="rect">
            <a:avLst/>
          </a:prstGeom>
        </p:spPr>
      </p:pic>
      <p:sp>
        <p:nvSpPr>
          <p:cNvPr id="25" name="Text 13"/>
          <p:cNvSpPr/>
          <p:nvPr/>
        </p:nvSpPr>
        <p:spPr>
          <a:xfrm>
            <a:off x="5212080" y="360273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forest management with data-driven early warning</a:t>
            </a:r>
            <a:endParaRPr lang="en-US" sz="1150" dirty="0"/>
          </a:p>
        </p:txBody>
      </p:sp>
      <p:sp>
        <p:nvSpPr>
          <p:cNvPr id="26" name="Text 14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/ 10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60120"/>
            <a:ext cx="192024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244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Records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960120"/>
            <a:ext cx="192024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888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960120"/>
            <a:ext cx="192024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457200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675120" y="960120"/>
            <a:ext cx="1920240" cy="10058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7512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130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675120" y="155448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Instances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" y="2148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Environmental Features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560320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259689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920240" y="259689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Noon temp in °C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65760" y="2907792"/>
            <a:ext cx="4114800" cy="320040"/>
          </a:xfrm>
          <a:prstGeom prst="rect">
            <a:avLst/>
          </a:prstGeom>
          <a:solidFill>
            <a:srgbClr val="EBF2EC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944368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920240" y="2944368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Relative Humidity %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55264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32918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 / Ws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920240" y="3291840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&amp; Wind speed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602736"/>
            <a:ext cx="4114800" cy="320040"/>
          </a:xfrm>
          <a:prstGeom prst="rect">
            <a:avLst/>
          </a:prstGeom>
          <a:solidFill>
            <a:srgbClr val="EBF2EC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3639312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FFMC / ISI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920240" y="3639312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Fuel moisture &amp; Spread index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3950208"/>
            <a:ext cx="41148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86784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FWI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3986784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Weather Index (target predictor)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297680"/>
            <a:ext cx="4114800" cy="320040"/>
          </a:xfrm>
          <a:prstGeom prst="rect">
            <a:avLst/>
          </a:prstGeom>
          <a:solidFill>
            <a:srgbClr val="EBF2EC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4334256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920240" y="4334256"/>
            <a:ext cx="24688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(1) or Not Fire (0)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846320" y="214884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Distribution</a:t>
            </a:r>
            <a:endParaRPr lang="en-US" sz="13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2514600"/>
            <a:ext cx="4114800" cy="23774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Machine Learning Repository  •  Algerian Forest Fires Dataset  •  June–Sep 2012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/ 10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1051560"/>
            <a:ext cx="2011680" cy="1600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124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15270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Identification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74320" y="20391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fire risk zones from env. data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50592" y="1051560"/>
            <a:ext cx="2011680" cy="1600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50592" y="1124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450592" y="15270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Collection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450592" y="20391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Algerian Forest Fires – 244 records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051560"/>
            <a:ext cx="2011680" cy="1600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124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26864" y="15270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Preprocessing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26864" y="20391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encode, scale, train-test split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803136" y="1051560"/>
            <a:ext cx="2011680" cy="1600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03136" y="112471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803136" y="152704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Analysis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03136" y="203911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Correlations, distributions, patterns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2926080"/>
            <a:ext cx="2011680" cy="1600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2999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274320" y="34015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74320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Heatmaps, box plots, scatter plots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450592" y="2926080"/>
            <a:ext cx="2011680" cy="1600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50592" y="2999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2450592" y="34015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450592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Regression, DT, Random Forest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26864" y="2926080"/>
            <a:ext cx="2011680" cy="16002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26864" y="29992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4626864" y="3401568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Interpretation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26864" y="39136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Recall, Feature Importance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/ 10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Feature Correlations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486400" cy="38404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80760" y="9601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035040" y="1417320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490472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0.77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858000" y="152704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FFMC ↔ Fire (strongest)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035040" y="2075688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2148840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0.74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6858000" y="2185416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↔ Fire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2734056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80760" y="2807208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58000" y="2843784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FWI ↔ Fire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35040" y="3392424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465576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-0.43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6858000" y="350215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 ↔ Fire (inverse)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035040" y="4050792"/>
            <a:ext cx="283464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80760" y="4123944"/>
            <a:ext cx="731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0.98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858000" y="4160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 ↔ DC (redundant)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/ 10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Environmental Features vs Fire Risk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859536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instances show higher Temperature, FWI, FFMC — and lower Rain &amp; RH. Consistent with real-world fire conditions.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 / 10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Development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Pipeline</a:t>
            </a:r>
            <a:endParaRPr lang="en-US" sz="13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353312"/>
            <a:ext cx="201168" cy="2011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31673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embedded region header rows from CSV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55648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171907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all feature columns to numeric types</a:t>
            </a:r>
            <a:endParaRPr lang="en-US" sz="11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157984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40080" y="21214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target: fire = 1, not fire = 0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2560320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40080" y="252374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StandardScaler normalization on 10 features</a:t>
            </a:r>
            <a:endParaRPr lang="en-US" sz="11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962656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0080" y="29260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A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 stratified split → 196 train, 49 test</a:t>
            </a:r>
            <a:endParaRPr lang="en-US" sz="1100" dirty="0"/>
          </a:p>
        </p:txBody>
      </p:sp>
      <p:sp>
        <p:nvSpPr>
          <p:cNvPr id="15" name="Text 8"/>
          <p:cNvSpPr/>
          <p:nvPr/>
        </p:nvSpPr>
        <p:spPr>
          <a:xfrm>
            <a:off x="466344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Classifiers Trained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4663440" y="1371600"/>
            <a:ext cx="4114800" cy="96012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1627632"/>
            <a:ext cx="329184" cy="329184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5166360" y="14630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19" name="Text 11"/>
          <p:cNvSpPr/>
          <p:nvPr/>
        </p:nvSpPr>
        <p:spPr>
          <a:xfrm>
            <a:off x="5166360" y="182880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max_iter=1000  •  Baseline linear classifier</a:t>
            </a:r>
            <a:endParaRPr lang="en-US" sz="1000" dirty="0"/>
          </a:p>
        </p:txBody>
      </p:sp>
      <p:sp>
        <p:nvSpPr>
          <p:cNvPr id="20" name="Shape 12"/>
          <p:cNvSpPr/>
          <p:nvPr/>
        </p:nvSpPr>
        <p:spPr>
          <a:xfrm>
            <a:off x="4663440" y="2468880"/>
            <a:ext cx="4114800" cy="96012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54880" y="2724912"/>
            <a:ext cx="329184" cy="329184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5166360" y="25603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300" dirty="0"/>
          </a:p>
        </p:txBody>
      </p:sp>
      <p:sp>
        <p:nvSpPr>
          <p:cNvPr id="23" name="Text 14"/>
          <p:cNvSpPr/>
          <p:nvPr/>
        </p:nvSpPr>
        <p:spPr>
          <a:xfrm>
            <a:off x="5166360" y="292608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max_depth=5  •  Non-linear feature interactions</a:t>
            </a:r>
            <a:endParaRPr lang="en-US" sz="1000" dirty="0"/>
          </a:p>
        </p:txBody>
      </p:sp>
      <p:sp>
        <p:nvSpPr>
          <p:cNvPr id="24" name="Shape 15"/>
          <p:cNvSpPr/>
          <p:nvPr/>
        </p:nvSpPr>
        <p:spPr>
          <a:xfrm>
            <a:off x="4663440" y="3566160"/>
            <a:ext cx="4114800" cy="960120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54880" y="3822192"/>
            <a:ext cx="329184" cy="32918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166360" y="36576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27" name="Text 17"/>
          <p:cNvSpPr/>
          <p:nvPr/>
        </p:nvSpPr>
        <p:spPr>
          <a:xfrm>
            <a:off x="5166360" y="40233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n_estimators=100  •  Ensemble + feature importance</a:t>
            </a:r>
            <a:endParaRPr lang="en-US" sz="1000" dirty="0"/>
          </a:p>
        </p:txBody>
      </p:sp>
      <p:sp>
        <p:nvSpPr>
          <p:cNvPr id="28" name="Text 1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/ 10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60120"/>
            <a:ext cx="2377440" cy="38404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87552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651760" y="960120"/>
            <a:ext cx="1417320" cy="38404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651760" y="9875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069080" y="960120"/>
            <a:ext cx="1417320" cy="38404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69080" y="9875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0" y="960120"/>
            <a:ext cx="1417320" cy="38404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0" y="9875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03720" y="960120"/>
            <a:ext cx="1417320" cy="38404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03720" y="987552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1344168"/>
            <a:ext cx="23774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7160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651760" y="1344168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51760" y="1371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93.88%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069080" y="1344168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69080" y="1371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93.10%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0" y="1344168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0" y="1371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96.43%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903720" y="1344168"/>
            <a:ext cx="1417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03720" y="137160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94.74%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74320" y="1755648"/>
            <a:ext cx="2377440" cy="384048"/>
          </a:xfrm>
          <a:prstGeom prst="rect">
            <a:avLst/>
          </a:prstGeom>
          <a:solidFill>
            <a:srgbClr val="F0F5F1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74320" y="17830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2651760" y="1755648"/>
            <a:ext cx="1417320" cy="384048"/>
          </a:xfrm>
          <a:prstGeom prst="rect">
            <a:avLst/>
          </a:prstGeom>
          <a:solidFill>
            <a:srgbClr val="F0F5F1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651760" y="17830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95.92%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069080" y="1755648"/>
            <a:ext cx="1417320" cy="384048"/>
          </a:xfrm>
          <a:prstGeom prst="rect">
            <a:avLst/>
          </a:prstGeom>
          <a:solidFill>
            <a:srgbClr val="F0F5F1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69080" y="17830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93.33%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5486400" y="1755648"/>
            <a:ext cx="1417320" cy="384048"/>
          </a:xfrm>
          <a:prstGeom prst="rect">
            <a:avLst/>
          </a:prstGeom>
          <a:solidFill>
            <a:srgbClr val="F0F5F1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0" y="17830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903720" y="1755648"/>
            <a:ext cx="1417320" cy="384048"/>
          </a:xfrm>
          <a:prstGeom prst="rect">
            <a:avLst/>
          </a:prstGeom>
          <a:solidFill>
            <a:srgbClr val="F0F5F1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03720" y="178308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96.55%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" y="2167128"/>
            <a:ext cx="2377440" cy="384048"/>
          </a:xfrm>
          <a:prstGeom prst="rect">
            <a:avLst/>
          </a:prstGeom>
          <a:solidFill>
            <a:srgbClr val="E8F5EC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74320" y="21945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A2E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★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2651760" y="2167128"/>
            <a:ext cx="1417320" cy="384048"/>
          </a:xfrm>
          <a:prstGeom prst="rect">
            <a:avLst/>
          </a:prstGeom>
          <a:solidFill>
            <a:srgbClr val="E8F5EC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95.92%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4069080" y="2167128"/>
            <a:ext cx="1417320" cy="384048"/>
          </a:xfrm>
          <a:prstGeom prst="rect">
            <a:avLst/>
          </a:prstGeom>
          <a:solidFill>
            <a:srgbClr val="E8F5EC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6908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93.33%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0" y="2167128"/>
            <a:ext cx="1417320" cy="384048"/>
          </a:xfrm>
          <a:prstGeom prst="rect">
            <a:avLst/>
          </a:prstGeom>
          <a:solidFill>
            <a:srgbClr val="E8F5EC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6903720" y="2167128"/>
            <a:ext cx="1417320" cy="384048"/>
          </a:xfrm>
          <a:prstGeom prst="rect">
            <a:avLst/>
          </a:prstGeom>
          <a:solidFill>
            <a:srgbClr val="E8F5EC"/>
          </a:solidFill>
          <a:ln w="12700">
            <a:solidFill>
              <a:srgbClr val="D0DDD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03720" y="2194560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96.55%</a:t>
            </a:r>
            <a:endParaRPr lang="en-US" sz="1150" dirty="0"/>
          </a:p>
        </p:txBody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606040"/>
            <a:ext cx="4754880" cy="2331720"/>
          </a:xfrm>
          <a:prstGeom prst="rect">
            <a:avLst/>
          </a:prstGeom>
        </p:spPr>
      </p:pic>
      <p:sp>
        <p:nvSpPr>
          <p:cNvPr id="45" name="Shape 42"/>
          <p:cNvSpPr/>
          <p:nvPr/>
        </p:nvSpPr>
        <p:spPr>
          <a:xfrm>
            <a:off x="5303520" y="960120"/>
            <a:ext cx="3566160" cy="128016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5349240" y="10058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Best Models</a:t>
            </a:r>
            <a:endParaRPr lang="en-US" sz="1300" dirty="0"/>
          </a:p>
        </p:txBody>
      </p:sp>
      <p:sp>
        <p:nvSpPr>
          <p:cNvPr id="47" name="Text 44"/>
          <p:cNvSpPr/>
          <p:nvPr/>
        </p:nvSpPr>
        <p:spPr>
          <a:xfrm>
            <a:off x="5349240" y="135331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Random Forest</a:t>
            </a:r>
            <a:endParaRPr lang="en-US" sz="1100" dirty="0"/>
          </a:p>
        </p:txBody>
      </p:sp>
      <p:sp>
        <p:nvSpPr>
          <p:cNvPr id="48" name="Text 45"/>
          <p:cNvSpPr/>
          <p:nvPr/>
        </p:nvSpPr>
        <p:spPr>
          <a:xfrm>
            <a:off x="5349240" y="162763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95.92% Accuracy  •  100% Recall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5303520" y="2423160"/>
            <a:ext cx="3566160" cy="82296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349240" y="248716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Fire Incidents Missed</a:t>
            </a:r>
            <a:endParaRPr lang="en-US" sz="1400" dirty="0"/>
          </a:p>
        </p:txBody>
      </p:sp>
      <p:sp>
        <p:nvSpPr>
          <p:cNvPr id="51" name="Text 48"/>
          <p:cNvSpPr/>
          <p:nvPr/>
        </p:nvSpPr>
        <p:spPr>
          <a:xfrm>
            <a:off x="5349240" y="283464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Recall on Test Set</a:t>
            </a:r>
            <a:endParaRPr lang="en-US" sz="1100" dirty="0"/>
          </a:p>
        </p:txBody>
      </p:sp>
      <p:sp>
        <p:nvSpPr>
          <p:cNvPr id="52" name="Text 49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 / 10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 &amp; Key Findings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914400"/>
            <a:ext cx="5303520" cy="2926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852160" y="96012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Predictors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852160" y="1417320"/>
            <a:ext cx="2926080" cy="65836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943600" y="147218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  ISI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0" y="1472184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943600" y="1801368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score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852160" y="2221992"/>
            <a:ext cx="2926080" cy="65836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0" y="2276856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  FFMC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7498080" y="227685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0.29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5943600" y="2606040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5852160" y="3026664"/>
            <a:ext cx="2926080" cy="658368"/>
          </a:xfrm>
          <a:prstGeom prst="rect">
            <a:avLst/>
          </a:prstGeom>
          <a:solidFill>
            <a:srgbClr val="1A3C2A"/>
          </a:solidFill>
          <a:ln w="12700">
            <a:solidFill>
              <a:srgbClr val="1A3C2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943600" y="3081528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  FWI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7498080" y="3081528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0.17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943600" y="3410712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Importance score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5852160" y="3886200"/>
            <a:ext cx="2926080" cy="6400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852160" y="3950208"/>
            <a:ext cx="2926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 + FFMC + FWI = 82%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852160" y="4251960"/>
            <a:ext cx="29260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total model importance</a:t>
            </a:r>
            <a:endParaRPr lang="en-US" sz="1000" dirty="0"/>
          </a:p>
        </p:txBody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3931920"/>
            <a:ext cx="5303520" cy="10972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/ 10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3C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Team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04672"/>
            <a:ext cx="8229600" cy="274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502920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88136"/>
            <a:ext cx="256032" cy="2560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105156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&amp; Random Forest: 95.92% accuracy with 100% recall — zero fires missed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365760" y="1664208"/>
            <a:ext cx="502920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46504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170992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ISI, FFMC &amp; FWI account for 82% of predictive importance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2322576"/>
            <a:ext cx="502920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404872"/>
            <a:ext cx="256032" cy="25603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868680" y="2368296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peak fire season — model can trigger early seasonal alerts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365760" y="2980944"/>
            <a:ext cx="5029200" cy="54864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063240"/>
            <a:ext cx="256032" cy="25603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868680" y="302666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Directly supports SDG 15: Life on Land through proactive forest protection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5669280" y="9601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400" dirty="0"/>
          </a:p>
        </p:txBody>
      </p:sp>
      <p:sp>
        <p:nvSpPr>
          <p:cNvPr id="17" name="Shape 11"/>
          <p:cNvSpPr/>
          <p:nvPr/>
        </p:nvSpPr>
        <p:spPr>
          <a:xfrm>
            <a:off x="5669280" y="1417320"/>
            <a:ext cx="320040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554480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217920" y="15087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Anamika K T</a:t>
            </a:r>
            <a:endParaRPr lang="en-US" sz="1300" dirty="0"/>
          </a:p>
        </p:txBody>
      </p:sp>
      <p:sp>
        <p:nvSpPr>
          <p:cNvPr id="20" name="Text 13"/>
          <p:cNvSpPr/>
          <p:nvPr/>
        </p:nvSpPr>
        <p:spPr>
          <a:xfrm>
            <a:off x="6217920" y="18288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RA2311026050012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6217920" y="20848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EDA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60720" y="2286000"/>
            <a:ext cx="182880" cy="18288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989320" y="22860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Rover-sp24</a:t>
            </a:r>
            <a:endParaRPr lang="en-US" sz="950" dirty="0"/>
          </a:p>
        </p:txBody>
      </p:sp>
      <p:sp>
        <p:nvSpPr>
          <p:cNvPr id="24" name="Shape 16"/>
          <p:cNvSpPr/>
          <p:nvPr/>
        </p:nvSpPr>
        <p:spPr>
          <a:xfrm>
            <a:off x="5669280" y="2788920"/>
            <a:ext cx="320040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0720" y="2926080"/>
            <a:ext cx="365760" cy="36576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217920" y="28803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Sibani B</a:t>
            </a:r>
            <a:endParaRPr lang="en-US" sz="1300" dirty="0"/>
          </a:p>
        </p:txBody>
      </p:sp>
      <p:sp>
        <p:nvSpPr>
          <p:cNvPr id="27" name="Text 18"/>
          <p:cNvSpPr/>
          <p:nvPr/>
        </p:nvSpPr>
        <p:spPr>
          <a:xfrm>
            <a:off x="6217920" y="32004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RA2311026050056</a:t>
            </a:r>
            <a:endParaRPr lang="en-US" sz="1000" dirty="0"/>
          </a:p>
        </p:txBody>
      </p:sp>
      <p:sp>
        <p:nvSpPr>
          <p:cNvPr id="28" name="Text 19"/>
          <p:cNvSpPr/>
          <p:nvPr/>
        </p:nvSpPr>
        <p:spPr>
          <a:xfrm>
            <a:off x="6217920" y="345643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F7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Modelling &amp; Visualization</a:t>
            </a:r>
            <a:endParaRPr lang="en-US" sz="1000" dirty="0"/>
          </a:p>
        </p:txBody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60720" y="3657600"/>
            <a:ext cx="182880" cy="182880"/>
          </a:xfrm>
          <a:prstGeom prst="rect">
            <a:avLst/>
          </a:prstGeom>
        </p:spPr>
      </p:pic>
      <p:sp>
        <p:nvSpPr>
          <p:cNvPr id="30" name="Text 20"/>
          <p:cNvSpPr/>
          <p:nvPr/>
        </p:nvSpPr>
        <p:spPr>
          <a:xfrm>
            <a:off x="5989320" y="3657600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Sibani-Balaji</a:t>
            </a:r>
            <a:endParaRPr lang="en-US" sz="950" dirty="0"/>
          </a:p>
        </p:txBody>
      </p:sp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5760" y="4663440"/>
            <a:ext cx="274320" cy="274320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685800" y="4663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15: Life on Land  •  SRM IST  •  AIML-B  •  2026</a:t>
            </a:r>
            <a:endParaRPr lang="en-US" sz="1000" dirty="0"/>
          </a:p>
        </p:txBody>
      </p:sp>
      <p:sp>
        <p:nvSpPr>
          <p:cNvPr id="33" name="Text 22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10 / 10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SmartForest: Forest Fire Risk Prediction</dc:title>
  <dc:subject>PptxGenJS Presentation</dc:subject>
  <dc:creator>PptxGenJS</dc:creator>
  <cp:lastModifiedBy>PptxGenJS</cp:lastModifiedBy>
  <cp:revision>1</cp:revision>
  <dcterms:created xsi:type="dcterms:W3CDTF">2026-05-07T05:09:43Z</dcterms:created>
  <dcterms:modified xsi:type="dcterms:W3CDTF">2026-05-07T05:09:43Z</dcterms:modified>
</cp:coreProperties>
</file>